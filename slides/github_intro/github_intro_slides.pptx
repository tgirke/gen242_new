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personal" TargetMode="External" /><Relationship Id="rId3" Type="http://schemas.openxmlformats.org/officeDocument/2006/relationships/hyperlink" Target="https://education.github.com" TargetMode="External" /><Relationship Id="rId4" Type="http://schemas.openxmlformats.org/officeDocument/2006/relationships/hyperlink" Target="https://guides.github.com/activities/hello-world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-scm.com/book/en/Getting-Started-Installing-Git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try.github.io/levels/1/challenges/1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help.github.com/articles/ignoring-files/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hpcc.ucr.edu/manuals/access/login/#ssh-keys" TargetMode="Externa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-scm.com/book/en/v2/Getting-Started-Installing-Git" TargetMode="External" /><Relationship Id="rId3" Type="http://schemas.openxmlformats.org/officeDocument/2006/relationships/hyperlink" Target="https://happygitwithr.com/ssh-keys" TargetMode="External" /><Relationship Id="rId4" Type="http://schemas.openxmlformats.org/officeDocument/2006/relationships/hyperlink" Target="https://support.rstudio.com/hc/en-us/articles/200711853-Keyboard-Shortcuts" TargetMode="Externa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tgirke/View_HTML_on_GitHub/tree/master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rke.bioinformatics.ucr.edu/GEN242/tutorials/linux/linux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GitHub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GEN242: Data Analysis in Genome Biology</a:t>
            </a:r>
            <a:br/>
            <a:br/>
            <a:r>
              <a:rPr/>
              <a:t>Thomas Girke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2026-04-07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Topics covered in this tutorial:</a:t>
            </a:r>
          </a:p>
          <a:p>
            <a:pPr lvl="0"/>
            <a:r>
              <a:rPr/>
              <a:t>What are </a:t>
            </a:r>
            <a:r>
              <a:rPr b="1"/>
              <a:t>Git</a:t>
            </a:r>
            <a:r>
              <a:rPr/>
              <a:t> and </a:t>
            </a:r>
            <a:r>
              <a:rPr b="1"/>
              <a:t>GitHub</a:t>
            </a:r>
            <a:r>
              <a:rPr/>
              <a:t>?</a:t>
            </a:r>
          </a:p>
          <a:p>
            <a:pPr lvl="0"/>
            <a:r>
              <a:rPr/>
              <a:t>Installing Git</a:t>
            </a:r>
          </a:p>
          <a:p>
            <a:pPr lvl="0"/>
            <a:r>
              <a:rPr/>
              <a:t>Git basics from the command-line</a:t>
            </a:r>
          </a:p>
          <a:p>
            <a:pPr lvl="0"/>
            <a:r>
              <a:rPr/>
              <a:t>GitHub basics from the command-line</a:t>
            </a:r>
          </a:p>
          <a:p>
            <a:pPr lvl="0"/>
            <a:r>
              <a:rPr/>
              <a:t>SSH Key authentication for private repos</a:t>
            </a:r>
          </a:p>
          <a:p>
            <a:pPr lvl="0"/>
            <a:r>
              <a:rPr/>
              <a:t>Using GitHub from </a:t>
            </a:r>
            <a:r>
              <a:rPr b="1"/>
              <a:t>RStudio</a:t>
            </a:r>
          </a:p>
          <a:p>
            <a:pPr lvl="0"/>
            <a:r>
              <a:rPr/>
              <a:t>Online file upload workflow</a:t>
            </a:r>
          </a:p>
          <a:p>
            <a:pPr lvl="0"/>
            <a:r>
              <a:rPr/>
              <a:t>Viewing static HTML files on GitHub Pages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This class makes heavy use of GitHub. Homework and course projects are submitted and graded via </a:t>
            </a:r>
            <a:r>
              <a:rPr sz="2000" b="1"/>
              <a:t>GitHub Classroom</a:t>
            </a:r>
            <a:r>
              <a:rPr sz="2000"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GitHub in GEN242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Homework assignments are submitted and graded on </a:t>
            </a:r>
            <a:r>
              <a:rPr b="1"/>
              <a:t>GitHub Classroom</a:t>
            </a:r>
          </a:p>
          <a:p>
            <a:pPr lvl="0"/>
            <a:r>
              <a:rPr/>
              <a:t>Course projects use </a:t>
            </a:r>
            <a:r>
              <a:rPr b="1"/>
              <a:t>private GitHub repositories</a:t>
            </a:r>
            <a:r>
              <a:rPr/>
              <a:t> — one per project, shared within each team</a:t>
            </a:r>
          </a:p>
          <a:p>
            <a:pPr lvl="0"/>
            <a:r>
              <a:rPr/>
              <a:t>Each student needs a </a:t>
            </a:r>
            <a:r>
              <a:rPr b="1"/>
              <a:t>personal GitHub account</a:t>
            </a:r>
            <a:r>
              <a:rPr/>
              <a:t> → </a:t>
            </a:r>
            <a:r>
              <a:rPr>
                <a:hlinkClick r:id="rId2"/>
              </a:rPr>
              <a:t>github.com/personal</a:t>
            </a:r>
          </a:p>
          <a:p>
            <a:pPr lvl="0"/>
            <a:r>
              <a:rPr/>
              <a:t>GitHub provides </a:t>
            </a:r>
            <a:r>
              <a:rPr b="1"/>
              <a:t>unlimited free public repositories</a:t>
            </a:r>
          </a:p>
          <a:p>
            <a:pPr lvl="0"/>
            <a:r>
              <a:rPr/>
              <a:t>Via </a:t>
            </a:r>
            <a:r>
              <a:rPr>
                <a:hlinkClick r:id="rId3"/>
              </a:rPr>
              <a:t>GitHub Education</a:t>
            </a:r>
            <a:r>
              <a:rPr/>
              <a:t> students can get extended free private repos</a:t>
            </a:r>
          </a:p>
          <a:p>
            <a:pPr lvl="0"/>
            <a:r>
              <a:rPr/>
              <a:t>New to GitHub? Start with the </a:t>
            </a:r>
            <a:r>
              <a:rPr>
                <a:hlinkClick r:id="rId4"/>
              </a:rPr>
              <a:t>Hello World quick guide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are Git and GitHub?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Git — local version control</a:t>
            </a:r>
          </a:p>
          <a:p>
            <a:pPr lvl="0"/>
            <a:r>
              <a:rPr/>
              <a:t>Tracks changes in files over time</a:t>
            </a:r>
          </a:p>
          <a:p>
            <a:pPr lvl="0"/>
            <a:r>
              <a:rPr/>
              <a:t>Works </a:t>
            </a:r>
            <a:r>
              <a:rPr b="1"/>
              <a:t>locally</a:t>
            </a:r>
            <a:r>
              <a:rPr/>
              <a:t> on your machine</a:t>
            </a:r>
          </a:p>
          <a:p>
            <a:pPr lvl="0"/>
            <a:r>
              <a:rPr/>
              <a:t>Enables branching, merging, full history</a:t>
            </a:r>
          </a:p>
          <a:p>
            <a:pPr lvl="0"/>
            <a:r>
              <a:rPr/>
              <a:t>Free and open source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GitHub — remote collaboration</a:t>
            </a:r>
          </a:p>
          <a:p>
            <a:pPr lvl="0"/>
            <a:r>
              <a:rPr/>
              <a:t>Online hosting service built on Git</a:t>
            </a:r>
          </a:p>
          <a:p>
            <a:pPr lvl="0"/>
            <a:r>
              <a:rPr/>
              <a:t>Stores repositories in the cloud</a:t>
            </a:r>
          </a:p>
          <a:p>
            <a:pPr lvl="0"/>
            <a:r>
              <a:rPr/>
              <a:t>Adds issues, pull requests, forks</a:t>
            </a:r>
          </a:p>
          <a:p>
            <a:pPr lvl="0"/>
            <a:r>
              <a:rPr/>
              <a:t>Enables code sharing and review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Git + GitHub together</a:t>
            </a:r>
            <a:r>
              <a:rPr sz="2000"/>
              <a:t> = local version control synced with a remote shared repository.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Installing Git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Command / Method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Windows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Installer from </a:t>
                      </a:r>
                      <a:r>
                        <a:rPr>
                          <a:hlinkClick r:id="rId2"/>
                        </a:rPr>
                        <a:t>git-scm.com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macOS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brew install git</a:t>
                      </a:r>
                      <a:r>
                        <a:rPr/>
                        <a:t> or Xcode Command Line Tools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Linux (Debian/Ubuntu)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sudo apt install git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Linux (Fedora/RHEL)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sudo dnf install git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When using Git from </a:t>
            </a:r>
            <a:r>
              <a:rPr sz="2000" b="1"/>
              <a:t>RStudio</a:t>
            </a:r>
            <a:r>
              <a:rPr sz="2000"/>
              <a:t>, set the path to the Git executable under:</a:t>
            </a:r>
            <a:br/>
            <a:r>
              <a:rPr sz="2000">
                <a:latin typeface="Courier"/>
              </a:rPr>
              <a:t>Tools → Global Options → Git/SVN</a:t>
            </a:r>
          </a:p>
          <a:p>
            <a:pPr lvl="0" indent="0" marL="0">
              <a:buNone/>
            </a:pPr>
            <a:r>
              <a:rPr/>
              <a:t>Practice in the browser (no install needed): </a:t>
            </a:r>
            <a:r>
              <a:rPr>
                <a:hlinkClick r:id="rId2"/>
              </a:rPr>
              <a:t>try.github.io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Git Basics — Core Commands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Get help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git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command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--help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Initialize a new repository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mkdir</a:t>
            </a:r>
            <a:r>
              <a:rPr>
                <a:solidFill>
                  <a:srgbClr val="003B4F"/>
                </a:solidFill>
                <a:latin typeface="Courier"/>
              </a:rPr>
              <a:t> my_dir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cd my_dir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git</a:t>
            </a:r>
            <a:r>
              <a:rPr>
                <a:solidFill>
                  <a:srgbClr val="003B4F"/>
                </a:solidFill>
                <a:latin typeface="Courier"/>
              </a:rPr>
              <a:t> init          </a:t>
            </a:r>
            <a:r>
              <a:rPr>
                <a:solidFill>
                  <a:srgbClr val="5E5E5E"/>
                </a:solidFill>
                <a:latin typeface="Courier"/>
              </a:rPr>
              <a:t># creates a hidden .git/ folder to track history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Stage files for commit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git</a:t>
            </a:r>
            <a:r>
              <a:rPr>
                <a:solidFill>
                  <a:srgbClr val="003B4F"/>
                </a:solidFill>
                <a:latin typeface="Courier"/>
              </a:rPr>
              <a:t> add myfile.txt     </a:t>
            </a:r>
            <a:r>
              <a:rPr>
                <a:solidFill>
                  <a:srgbClr val="5E5E5E"/>
                </a:solidFill>
                <a:latin typeface="Courier"/>
              </a:rPr>
              <a:t># stage a specific file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git</a:t>
            </a:r>
            <a:r>
              <a:rPr>
                <a:solidFill>
                  <a:srgbClr val="003B4F"/>
                </a:solidFill>
                <a:latin typeface="Courier"/>
              </a:rPr>
              <a:t> add .              </a:t>
            </a:r>
            <a:r>
              <a:rPr>
                <a:solidFill>
                  <a:srgbClr val="5E5E5E"/>
                </a:solidFill>
                <a:latin typeface="Courier"/>
              </a:rPr>
              <a:t># stage all changes in current directory (recommended for daily use)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git</a:t>
            </a:r>
            <a:r>
              <a:rPr>
                <a:solidFill>
                  <a:srgbClr val="003B4F"/>
                </a:solidFill>
                <a:latin typeface="Courier"/>
              </a:rPr>
              <a:t> add </a:t>
            </a:r>
            <a:r>
              <a:rPr>
                <a:solidFill>
                  <a:srgbClr val="657422"/>
                </a:solidFill>
                <a:latin typeface="Courier"/>
              </a:rPr>
              <a:t>-A</a:t>
            </a:r>
            <a:r>
              <a:rPr>
                <a:solidFill>
                  <a:srgbClr val="003B4F"/>
                </a:solidFill>
                <a:latin typeface="Courier"/>
              </a:rPr>
              <a:t> :/          </a:t>
            </a:r>
            <a:r>
              <a:rPr>
                <a:solidFill>
                  <a:srgbClr val="5E5E5E"/>
                </a:solidFill>
                <a:latin typeface="Courier"/>
              </a:rPr>
              <a:t># stage all changes in entire repo regardless of working directory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Best for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add myfile.txt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file 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Selective, careful commits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add 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changes under current directory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Daily use — simple and intuitive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add -A :/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changes in entire repo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Working inside a subdirectory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most workflows </a:t>
            </a:r>
            <a:r>
              <a:rPr>
                <a:latin typeface="Courier"/>
              </a:rPr>
              <a:t>git add .</a:t>
            </a:r>
            <a:r>
              <a:rPr/>
              <a:t> is sufficient. Use </a:t>
            </a:r>
            <a:r>
              <a:rPr>
                <a:latin typeface="Courier"/>
              </a:rPr>
              <a:t>git add -A :/</a:t>
            </a:r>
            <a:r>
              <a:rPr/>
              <a:t> if you are working inside a subdirectory and want to be sure nothing elsewhere in the repo is missed.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List files to </a:t>
            </a:r>
            <a:r>
              <a:rPr sz="2000" b="1"/>
              <a:t>ignore</a:t>
            </a:r>
            <a:r>
              <a:rPr sz="2000"/>
              <a:t> (temp files, outputs) in a </a:t>
            </a:r>
            <a:r>
              <a:rPr sz="2000">
                <a:latin typeface="Courier"/>
              </a:rPr>
              <a:t>.gitignore</a:t>
            </a:r>
            <a:r>
              <a:rPr sz="2000"/>
              <a:t> file at the repository root. Regular expressions are supported — see </a:t>
            </a:r>
            <a:r>
              <a:rPr sz="2000">
                <a:hlinkClick r:id="rId2"/>
              </a:rPr>
              <a:t>GitHub docs</a:t>
            </a:r>
            <a:r>
              <a:rPr sz="2000"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Commit a snapshot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git</a:t>
            </a:r>
            <a:r>
              <a:rPr>
                <a:solidFill>
                  <a:srgbClr val="003B4F"/>
                </a:solidFill>
                <a:latin typeface="Courier"/>
              </a:rPr>
              <a:t> commit </a:t>
            </a:r>
            <a:r>
              <a:rPr>
                <a:solidFill>
                  <a:srgbClr val="657422"/>
                </a:solidFill>
                <a:latin typeface="Courier"/>
              </a:rPr>
              <a:t>-am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"describe your changes"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-a  stages all tracked modified files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-m  sets the commit message inline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GitHub Basics — Remote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Link your local repo to GitHub</a:t>
            </a:r>
          </a:p>
          <a:p>
            <a:pPr lvl="0" indent="0" marL="0">
              <a:buNone/>
            </a:pPr>
            <a:r>
              <a:rPr/>
              <a:t>Create the repository on GitHub first (leave README/license/</a:t>
            </a:r>
            <a:r>
              <a:rPr>
                <a:latin typeface="Courier"/>
              </a:rPr>
              <a:t>.gitignore</a:t>
            </a:r>
            <a:r>
              <a:rPr/>
              <a:t> </a:t>
            </a:r>
            <a:r>
              <a:rPr b="1"/>
              <a:t>unchecked</a:t>
            </a:r>
            <a:r>
              <a:rPr/>
              <a:t>), then: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git</a:t>
            </a:r>
            <a:r>
              <a:rPr>
                <a:solidFill>
                  <a:srgbClr val="003B4F"/>
                </a:solidFill>
                <a:latin typeface="Courier"/>
              </a:rPr>
              <a:t> remote add origin git@github.com: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user_name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/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repos_name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.git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/>
              <a:t>Do </a:t>
            </a:r>
            <a:r>
              <a:rPr sz="2000" b="1"/>
              <a:t>not</a:t>
            </a:r>
            <a:r>
              <a:rPr sz="2000"/>
              <a:t> initialize the GitHub repo with any files — that causes merge conflicts on the first push.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Push local commits to GitHub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git</a:t>
            </a:r>
            <a:r>
              <a:rPr>
                <a:solidFill>
                  <a:srgbClr val="003B4F"/>
                </a:solidFill>
                <a:latin typeface="Courier"/>
              </a:rPr>
              <a:t> push          </a:t>
            </a:r>
            <a:r>
              <a:rPr>
                <a:solidFill>
                  <a:srgbClr val="5E5E5E"/>
                </a:solidFill>
                <a:latin typeface="Courier"/>
              </a:rPr>
              <a:t># first push; after this, just: git push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Clone an existing repository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git</a:t>
            </a:r>
            <a:r>
              <a:rPr>
                <a:solidFill>
                  <a:srgbClr val="003B4F"/>
                </a:solidFill>
                <a:latin typeface="Courier"/>
              </a:rPr>
              <a:t> clone git@github.com: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user_name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/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repos_name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.git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Daily workflow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git</a:t>
            </a:r>
            <a:r>
              <a:rPr>
                <a:solidFill>
                  <a:srgbClr val="003B4F"/>
                </a:solidFill>
                <a:latin typeface="Courier"/>
              </a:rPr>
              <a:t> pull    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sync before you start editing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... make your changes ...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git</a:t>
            </a:r>
            <a:r>
              <a:rPr>
                <a:solidFill>
                  <a:srgbClr val="003B4F"/>
                </a:solidFill>
                <a:latin typeface="Courier"/>
              </a:rPr>
              <a:t> commit </a:t>
            </a:r>
            <a:r>
              <a:rPr>
                <a:solidFill>
                  <a:srgbClr val="657422"/>
                </a:solidFill>
                <a:latin typeface="Courier"/>
              </a:rPr>
              <a:t>-am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"describe changes"</a:t>
            </a:r>
            <a:r>
              <a:rPr>
                <a:solidFill>
                  <a:srgbClr val="003B4F"/>
                </a:solidFill>
                <a:latin typeface="Courier"/>
              </a:rPr>
              <a:t>   </a:t>
            </a:r>
            <a:r>
              <a:rPr>
                <a:solidFill>
                  <a:srgbClr val="5E5E5E"/>
                </a:solidFill>
                <a:latin typeface="Courier"/>
              </a:rPr>
              <a:t># commit locally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git</a:t>
            </a:r>
            <a:r>
              <a:rPr>
                <a:solidFill>
                  <a:srgbClr val="003B4F"/>
                </a:solidFill>
                <a:latin typeface="Courier"/>
              </a:rPr>
              <a:t> push    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send to GitHub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SSH Keys for Private Repositories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Private GitHub repositories (like your GEN242 homework repos) require </a:t>
            </a:r>
            <a:r>
              <a:rPr b="1"/>
              <a:t>SSH Key authentication</a:t>
            </a:r>
            <a:r>
              <a:rPr/>
              <a:t>. Password-based access is no longer supported by GitHub.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SSH Keys?</a:t>
            </a:r>
          </a:p>
          <a:p>
            <a:pPr lvl="0"/>
            <a:r>
              <a:rPr/>
              <a:t>Secure, password-less authentication</a:t>
            </a:r>
          </a:p>
          <a:p>
            <a:pPr lvl="0"/>
            <a:r>
              <a:rPr/>
              <a:t>One key pair generated per computer (laptop, HPCC cluster — each needs its own)</a:t>
            </a:r>
          </a:p>
          <a:p>
            <a:pPr lvl="0"/>
            <a:r>
              <a:rPr/>
              <a:t>Public key lives on GitHub; private key stays on your machine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Setup steps</a:t>
            </a:r>
          </a:p>
          <a:p>
            <a:pPr lvl="0" indent="0" marL="0">
              <a:buNone/>
            </a:pPr>
            <a:r>
              <a:rPr b="1"/>
              <a:t>Step 1</a:t>
            </a:r>
            <a:r>
              <a:rPr/>
              <a:t> — Generate a key pair on your machine (or on the HPCC cluster):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ssh-keygen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657422"/>
                </a:solidFill>
                <a:latin typeface="Courier"/>
              </a:rPr>
              <a:t>-t</a:t>
            </a:r>
            <a:r>
              <a:rPr>
                <a:solidFill>
                  <a:srgbClr val="003B4F"/>
                </a:solidFill>
                <a:latin typeface="Courier"/>
              </a:rPr>
              <a:t> ed25519 </a:t>
            </a:r>
            <a:r>
              <a:rPr>
                <a:solidFill>
                  <a:srgbClr val="657422"/>
                </a:solidFill>
                <a:latin typeface="Courier"/>
              </a:rPr>
              <a:t>-C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"your_email@example.com"</a:t>
            </a:r>
          </a:p>
          <a:p>
            <a:pPr lvl="0" indent="0" marL="0">
              <a:buNone/>
            </a:pPr>
            <a:r>
              <a:rPr b="1"/>
              <a:t>Step 2</a:t>
            </a:r>
            <a:r>
              <a:rPr/>
              <a:t> — Display the public key and copy it: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 ~/.ssh/id_ed25519.pub</a:t>
            </a:r>
          </a:p>
          <a:p>
            <a:pPr lvl="0" indent="0" marL="0">
              <a:buNone/>
            </a:pPr>
            <a:r>
              <a:rPr b="1"/>
              <a:t>Step 3</a:t>
            </a:r>
            <a:r>
              <a:rPr/>
              <a:t> — Add it to GitHub:</a:t>
            </a:r>
            <a:br/>
            <a:r>
              <a:rPr>
                <a:latin typeface="Courier"/>
              </a:rPr>
              <a:t>Settings → SSH and GPG keys → New SSH key</a:t>
            </a:r>
            <a:r>
              <a:rPr/>
              <a:t> → paste → Save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For the </a:t>
            </a:r>
            <a:r>
              <a:rPr sz="2000" b="1"/>
              <a:t>HPCC cluster</a:t>
            </a:r>
            <a:r>
              <a:rPr sz="2000"/>
              <a:t>: generate the key pair </a:t>
            </a:r>
            <a:r>
              <a:rPr sz="2000" i="1"/>
              <a:t>on the cluster</a:t>
            </a:r>
            <a:r>
              <a:rPr sz="2000"/>
              <a:t> and upload </a:t>
            </a:r>
            <a:r>
              <a:rPr sz="2000">
                <a:latin typeface="Courier"/>
              </a:rPr>
              <a:t>~/.ssh/id_rsa.pub</a:t>
            </a:r>
            <a:r>
              <a:rPr sz="2000"/>
              <a:t> to GitHub. See </a:t>
            </a:r>
            <a:r>
              <a:rPr sz="2000">
                <a:hlinkClick r:id="rId2"/>
              </a:rPr>
              <a:t>HPCC SSH Key docs</a:t>
            </a:r>
            <a:r>
              <a:rPr sz="2000"/>
              <a:t>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SSH Key Authentication Flow</a:t>
            </a:r>
          </a:p>
        </p:txBody>
      </p:sp>
      <p:pic>
        <p:nvPicPr>
          <p:cNvPr descr="https://girke.bioinformatics.ucr.edu/GEN242/tutorials/github/images/SSH_Keys.drawi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4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SSH Key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computer that needs to push/pull from a private repo requires its own key pair. Upload each computer’s </a:t>
            </a:r>
            <a:r>
              <a:rPr b="1"/>
              <a:t>public key</a:t>
            </a:r>
            <a:r>
              <a:rPr/>
              <a:t> to GitHub separately.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— Full Git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this after creating your GitHub repository (see HW01 instructions):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Clone the remote repository to your machine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git</a:t>
            </a:r>
            <a:r>
              <a:rPr>
                <a:solidFill>
                  <a:srgbClr val="003B4F"/>
                </a:solidFill>
                <a:latin typeface="Courier"/>
              </a:rPr>
              <a:t> clone git@github.com: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user_or_org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/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repo_name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cd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repo_name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Sync any remote changes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git</a:t>
            </a:r>
            <a:r>
              <a:rPr>
                <a:solidFill>
                  <a:srgbClr val="003B4F"/>
                </a:solidFill>
                <a:latin typeface="Courier"/>
              </a:rPr>
              <a:t> pull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Create a test file, stage, commit, and push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touch</a:t>
            </a:r>
            <a:r>
              <a:rPr>
                <a:solidFill>
                  <a:srgbClr val="003B4F"/>
                </a:solidFill>
                <a:latin typeface="Courier"/>
              </a:rPr>
              <a:t> test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git</a:t>
            </a:r>
            <a:r>
              <a:rPr>
                <a:solidFill>
                  <a:srgbClr val="003B4F"/>
                </a:solidFill>
                <a:latin typeface="Courier"/>
              </a:rPr>
              <a:t> add .              </a:t>
            </a:r>
            <a:r>
              <a:rPr>
                <a:solidFill>
                  <a:srgbClr val="5E5E5E"/>
                </a:solidFill>
                <a:latin typeface="Courier"/>
              </a:rPr>
              <a:t># or: git add test  to stage only this file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git</a:t>
            </a:r>
            <a:r>
              <a:rPr>
                <a:solidFill>
                  <a:srgbClr val="003B4F"/>
                </a:solidFill>
                <a:latin typeface="Courier"/>
              </a:rPr>
              <a:t> commit </a:t>
            </a:r>
            <a:r>
              <a:rPr>
                <a:solidFill>
                  <a:srgbClr val="657422"/>
                </a:solidFill>
                <a:latin typeface="Courier"/>
              </a:rPr>
              <a:t>-am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"add test file"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git</a:t>
            </a:r>
            <a:r>
              <a:rPr>
                <a:solidFill>
                  <a:srgbClr val="003B4F"/>
                </a:solidFill>
                <a:latin typeface="Courier"/>
              </a:rPr>
              <a:t> push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Now edit 'test' directly on GitHub online, then pull the change back: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git</a:t>
            </a:r>
            <a:r>
              <a:rPr>
                <a:solidFill>
                  <a:srgbClr val="003B4F"/>
                </a:solidFill>
                <a:latin typeface="Courier"/>
              </a:rPr>
              <a:t> pull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Online File Upload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users not yet comfortable with the command-line, GitHub supports </a:t>
            </a:r>
            <a:r>
              <a:rPr b="1"/>
              <a:t>browser-based uploads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On your repository page click </a:t>
            </a:r>
            <a:r>
              <a:rPr b="1">
                <a:latin typeface="Courier"/>
              </a:rPr>
              <a:t>Add file</a:t>
            </a:r>
            <a:r>
              <a:rPr/>
              <a:t> → </a:t>
            </a:r>
            <a:r>
              <a:rPr b="1">
                <a:latin typeface="Courier"/>
              </a:rPr>
              <a:t>Upload files</a:t>
            </a:r>
          </a:p>
          <a:p>
            <a:pPr lvl="0" indent="-342900" marL="342900">
              <a:buAutoNum type="arabicPeriod"/>
            </a:pPr>
            <a:r>
              <a:rPr/>
              <a:t>In the file path field, type a subdirectory path and placeholder filename:</a:t>
            </a:r>
          </a:p>
          <a:p>
            <a:pPr lvl="1" indent="0">
              <a:buNone/>
            </a:pPr>
            <a:r>
              <a:rPr>
                <a:latin typeface="Courier"/>
              </a:rPr>
              <a:t>Homework/HW1/dummy.txt</a:t>
            </a:r>
          </a:p>
          <a:p>
            <a:pPr lvl="0" indent="-342900" marL="342900">
              <a:buAutoNum type="arabicPeriod"/>
            </a:pPr>
            <a:r>
              <a:rPr/>
              <a:t>Upload your actual file to the newly created directory</a:t>
            </a:r>
          </a:p>
          <a:p>
            <a:pPr lvl="0" indent="-342900" marL="342900">
              <a:buAutoNum type="arabicPeriod"/>
            </a:pPr>
            <a:r>
              <a:rPr/>
              <a:t>Delete </a:t>
            </a:r>
            <a:r>
              <a:rPr>
                <a:latin typeface="Courier"/>
              </a:rPr>
              <a:t>dummy.txt</a:t>
            </a:r>
            <a:r>
              <a:rPr/>
              <a:t> afterward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GitHub does not display empty directories — the placeholder file trick creates the folder structure first so your real file has somewhere to land.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GitHub from RStudio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One-time setup</a:t>
            </a:r>
          </a:p>
          <a:p>
            <a:pPr lvl="0" indent="-342900" marL="342900">
              <a:buAutoNum type="arabicPeriod"/>
            </a:pPr>
            <a:r>
              <a:rPr/>
              <a:t>Install Git — </a:t>
            </a:r>
            <a:r>
              <a:rPr>
                <a:hlinkClick r:id="rId2"/>
              </a:rPr>
              <a:t>git-scm.com</a:t>
            </a:r>
          </a:p>
          <a:p>
            <a:pPr lvl="0" indent="-342900" marL="342900">
              <a:buAutoNum type="arabicPeriod"/>
            </a:pPr>
            <a:r>
              <a:rPr/>
              <a:t>Tell RStudio where Git is: </a:t>
            </a:r>
            <a:r>
              <a:rPr>
                <a:latin typeface="Courier"/>
              </a:rPr>
              <a:t>Tools → Global Options → Git/SVN</a:t>
            </a:r>
          </a:p>
          <a:p>
            <a:pPr lvl="0" indent="-342900" marL="342900">
              <a:buAutoNum type="arabicPeriod"/>
            </a:pPr>
            <a:r>
              <a:rPr/>
              <a:t>(Optional) Configure SSH Keys from within RStudio — see </a:t>
            </a:r>
            <a:r>
              <a:rPr>
                <a:hlinkClick r:id="rId3"/>
              </a:rPr>
              <a:t>Happy Git with 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Clone a repository into RStudio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File → New Project → Version Control → Git → paste repository URL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Commit and push changes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Tools → Version Control → Commit</a:t>
            </a:r>
          </a:p>
          <a:p>
            <a:pPr lvl="0"/>
            <a:r>
              <a:rPr/>
              <a:t>Check the files you want to stage in the </a:t>
            </a:r>
            <a:r>
              <a:rPr b="1"/>
              <a:t>Staging Area</a:t>
            </a:r>
          </a:p>
          <a:p>
            <a:pPr lvl="0"/>
            <a:r>
              <a:rPr/>
              <a:t>Write a commit message in the box</a:t>
            </a:r>
          </a:p>
          <a:p>
            <a:pPr lvl="0"/>
            <a:r>
              <a:rPr/>
              <a:t>Click </a:t>
            </a:r>
            <a:r>
              <a:rPr b="1"/>
              <a:t>Commit</a:t>
            </a:r>
            <a:r>
              <a:rPr/>
              <a:t>, then </a:t>
            </a:r>
            <a:r>
              <a:rPr b="1"/>
              <a:t>Push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Useful RStudio keyboard shortcuts: </a:t>
            </a:r>
            <a:r>
              <a:rPr sz="2000">
                <a:hlinkClick r:id="rId4"/>
              </a:rPr>
              <a:t>support.rstudio.com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Viewing HTML Files on GitHub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default GitHub renders raw HTML source, not the page. Enable GitHub Pages to serve rendered HTML:</a:t>
            </a:r>
          </a:p>
          <a:p>
            <a:pPr lvl="0" indent="-342900" marL="342900">
              <a:buAutoNum type="arabicPeriod"/>
            </a:pPr>
            <a:r>
              <a:rPr/>
              <a:t>Make your repository </a:t>
            </a:r>
            <a:r>
              <a:rPr b="1"/>
              <a:t>public</a:t>
            </a:r>
          </a:p>
          <a:p>
            <a:pPr lvl="0" indent="-342900" marL="342900">
              <a:buAutoNum type="arabicPeriod"/>
            </a:pPr>
            <a:r>
              <a:rPr/>
              <a:t>Go to </a:t>
            </a:r>
            <a:r>
              <a:rPr>
                <a:latin typeface="Courier"/>
              </a:rPr>
              <a:t>Settings → Pages</a:t>
            </a:r>
          </a:p>
          <a:p>
            <a:pPr lvl="0" indent="-342900" marL="342900">
              <a:buAutoNum type="arabicPeriod"/>
            </a:pPr>
            <a:r>
              <a:rPr/>
              <a:t>Under </a:t>
            </a:r>
            <a:r>
              <a:rPr b="1"/>
              <a:t>Source</a:t>
            </a:r>
            <a:r>
              <a:rPr/>
              <a:t> select </a:t>
            </a:r>
            <a:r>
              <a:rPr>
                <a:latin typeface="Courier"/>
              </a:rPr>
              <a:t>Deploy from a branch</a:t>
            </a:r>
          </a:p>
          <a:p>
            <a:pPr lvl="0" indent="-342900" marL="342900">
              <a:buAutoNum type="arabicPeriod"/>
            </a:pPr>
            <a:r>
              <a:rPr/>
              <a:t>Choose branch </a:t>
            </a:r>
            <a:r>
              <a:rPr>
                <a:latin typeface="Courier"/>
              </a:rPr>
              <a:t>main</a:t>
            </a:r>
            <a:r>
              <a:rPr/>
              <a:t>, click </a:t>
            </a:r>
            <a:r>
              <a:rPr b="1"/>
              <a:t>Save</a:t>
            </a:r>
          </a:p>
          <a:p>
            <a:pPr lvl="0" indent="-342900" marL="342900">
              <a:buAutoNum type="arabicPeriod"/>
            </a:pPr>
            <a:r>
              <a:rPr/>
              <a:t>Wait for the URL — then append your HTML file path to view it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The GEN242 course site itself is hosted this way via GitHub Pages.</a:t>
            </a:r>
            <a:br/>
            <a:r>
              <a:rPr sz="2000"/>
              <a:t>Example repo: </a:t>
            </a:r>
            <a:r>
              <a:rPr sz="2000">
                <a:hlinkClick r:id="rId2"/>
              </a:rPr>
              <a:t>github.com/tgirke/View_HTML_on_GitHub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Command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Initialize repo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init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Stage files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add .</a:t>
                      </a:r>
                      <a:r>
                        <a:rPr/>
                        <a:t> or </a:t>
                      </a:r>
                      <a:r>
                        <a:rPr>
                          <a:latin typeface="Courier"/>
                        </a:rPr>
                        <a:t>git add -A :/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Commit changes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commit -am "message"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 to remote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remote add origin &lt;url&gt;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Push to GitHub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push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Pull from GitHub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pull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Clone a repo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clone &lt;url&gt;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Daily workflow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git</a:t>
            </a:r>
            <a:r>
              <a:rPr>
                <a:solidFill>
                  <a:srgbClr val="003B4F"/>
                </a:solidFill>
                <a:latin typeface="Courier"/>
              </a:rPr>
              <a:t> pull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always sync first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... edit your files ...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git</a:t>
            </a:r>
            <a:r>
              <a:rPr>
                <a:solidFill>
                  <a:srgbClr val="003B4F"/>
                </a:solidFill>
                <a:latin typeface="Courier"/>
              </a:rPr>
              <a:t> commit </a:t>
            </a:r>
            <a:r>
              <a:rPr>
                <a:solidFill>
                  <a:srgbClr val="657422"/>
                </a:solidFill>
                <a:latin typeface="Courier"/>
              </a:rPr>
              <a:t>-am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"your message"</a:t>
            </a:r>
            <a:r>
              <a:rPr>
                <a:solidFill>
                  <a:srgbClr val="003B4F"/>
                </a:solidFill>
                <a:latin typeface="Courier"/>
              </a:rPr>
              <a:t>   </a:t>
            </a:r>
            <a:r>
              <a:rPr>
                <a:solidFill>
                  <a:srgbClr val="5E5E5E"/>
                </a:solidFill>
                <a:latin typeface="Courier"/>
              </a:rPr>
              <a:t># commit locally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git</a:t>
            </a:r>
            <a:r>
              <a:rPr>
                <a:solidFill>
                  <a:srgbClr val="003B4F"/>
                </a:solidFill>
                <a:latin typeface="Courier"/>
              </a:rPr>
              <a:t> push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push to GitHub</a:t>
            </a:r>
          </a:p>
          <a:p>
            <a:pPr lvl="0" indent="0" marL="0">
              <a:buNone/>
            </a:pPr>
            <a:r>
              <a:rPr b="1"/>
              <a:t>Next:</a:t>
            </a:r>
            <a:r>
              <a:rPr/>
              <a:t> T2 — </a:t>
            </a:r>
            <a:r>
              <a:rPr>
                <a:hlinkClick r:id="rId2"/>
              </a:rPr>
              <a:t>Linux &amp; HPCC Cluster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Introduction</dc:title>
  <dc:creator>Thomas Girke</dc:creator>
  <cp:keywords/>
  <dcterms:created xsi:type="dcterms:W3CDTF">2026-04-08T04:48:22Z</dcterms:created>
  <dcterms:modified xsi:type="dcterms:W3CDTF">2026-04-08T04:48:22Z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2026-04-07</vt:lpwstr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subtitle">
    <vt:lpwstr>GEN242: Data Analysis in Genome Biology</vt:lpwstr>
  </property>
  <property fmtid="{D5CDD505-2E9C-101B-9397-08002B2CF9AE}" pid="13" name="toc-title">
    <vt:lpwstr>Table of contents</vt:lpwstr>
  </property>
</Properties>
</file>